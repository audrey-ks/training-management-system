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4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89" d="100"/>
          <a:sy n="89" d="100"/>
        </p:scale>
        <p:origin x="37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5F5D9-6008-45B1-A818-BD75129760D0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79107-59A9-44BA-9A17-8C1B8C62F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755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5F5D9-6008-45B1-A818-BD75129760D0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79107-59A9-44BA-9A17-8C1B8C62F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674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5F5D9-6008-45B1-A818-BD75129760D0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79107-59A9-44BA-9A17-8C1B8C62F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993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5F5D9-6008-45B1-A818-BD75129760D0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79107-59A9-44BA-9A17-8C1B8C62F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00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5F5D9-6008-45B1-A818-BD75129760D0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79107-59A9-44BA-9A17-8C1B8C62F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206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5F5D9-6008-45B1-A818-BD75129760D0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79107-59A9-44BA-9A17-8C1B8C62F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53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5F5D9-6008-45B1-A818-BD75129760D0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79107-59A9-44BA-9A17-8C1B8C62F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770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5F5D9-6008-45B1-A818-BD75129760D0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79107-59A9-44BA-9A17-8C1B8C62F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799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5F5D9-6008-45B1-A818-BD75129760D0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79107-59A9-44BA-9A17-8C1B8C62F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321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5F5D9-6008-45B1-A818-BD75129760D0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79107-59A9-44BA-9A17-8C1B8C62F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048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5F5D9-6008-45B1-A818-BD75129760D0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79107-59A9-44BA-9A17-8C1B8C62F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8422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5F5D9-6008-45B1-A818-BD75129760D0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79107-59A9-44BA-9A17-8C1B8C62F87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258605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5F5D9-6008-45B1-A818-BD75129760D0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79107-59A9-44BA-9A17-8C1B8C62F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4038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5F5D9-6008-45B1-A818-BD75129760D0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79107-59A9-44BA-9A17-8C1B8C62F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863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5F5D9-6008-45B1-A818-BD75129760D0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79107-59A9-44BA-9A17-8C1B8C62F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4159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5F5D9-6008-45B1-A818-BD75129760D0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79107-59A9-44BA-9A17-8C1B8C62F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4028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5F5D9-6008-45B1-A818-BD75129760D0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79107-59A9-44BA-9A17-8C1B8C62F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69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F85F5D9-6008-45B1-A818-BD75129760D0}" type="datetimeFigureOut">
              <a:rPr lang="en-US" smtClean="0"/>
              <a:t>3/20/2025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AE79107-59A9-44BA-9A17-8C1B8C62F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8560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63C25-AD00-7C5B-2C3F-C880D221A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848" y="462951"/>
            <a:ext cx="10353762" cy="970450"/>
          </a:xfrm>
        </p:spPr>
        <p:txBody>
          <a:bodyPr>
            <a:normAutofit/>
          </a:bodyPr>
          <a:lstStyle/>
          <a:p>
            <a:r>
              <a:rPr lang="en-US" sz="3200" b="1" u="sng" dirty="0"/>
              <a:t>MIS (MANAGEMENT INFORMATION SYSTM).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827859-CAE9-EEF6-0247-E5BCBAA9B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51250" indent="-514350">
              <a:buFont typeface="+mj-lt"/>
              <a:buAutoNum type="romanUcPeriod"/>
            </a:pPr>
            <a:r>
              <a:rPr lang="en-US" dirty="0"/>
              <a:t>INTRODUCTION TO MIS.</a:t>
            </a:r>
          </a:p>
          <a:p>
            <a:pPr marL="551250" indent="-514350">
              <a:buFont typeface="+mj-lt"/>
              <a:buAutoNum type="romanUcPeriod"/>
            </a:pPr>
            <a:r>
              <a:rPr lang="en-US" dirty="0"/>
              <a:t>DEFINITION OF MIS.</a:t>
            </a:r>
          </a:p>
          <a:p>
            <a:pPr marL="551250" indent="-514350">
              <a:buFont typeface="+mj-lt"/>
              <a:buAutoNum type="romanUcPeriod"/>
            </a:pPr>
            <a:r>
              <a:rPr lang="en-US" dirty="0"/>
              <a:t>COMPONENTS OF MIS.</a:t>
            </a:r>
          </a:p>
          <a:p>
            <a:pPr marL="551250" indent="-514350">
              <a:buFont typeface="+mj-lt"/>
              <a:buAutoNum type="romanUcPeriod"/>
            </a:pPr>
            <a:r>
              <a:rPr lang="en-US" dirty="0"/>
              <a:t>FUNCTIONS OF MIS.</a:t>
            </a:r>
          </a:p>
          <a:p>
            <a:pPr marL="551250" indent="-514350">
              <a:buFont typeface="+mj-lt"/>
              <a:buAutoNum type="romanUcPeriod"/>
            </a:pPr>
            <a:r>
              <a:rPr lang="en-US" dirty="0"/>
              <a:t>TYPES OF MIS.</a:t>
            </a:r>
          </a:p>
          <a:p>
            <a:pPr marL="551250" indent="-514350">
              <a:buFont typeface="+mj-lt"/>
              <a:buAutoNum type="romanUcPeriod"/>
            </a:pPr>
            <a:r>
              <a:rPr lang="en-US" dirty="0"/>
              <a:t>BENEFITS OF MIS.</a:t>
            </a:r>
          </a:p>
          <a:p>
            <a:pPr marL="551250" indent="-514350">
              <a:buFont typeface="+mj-lt"/>
              <a:buAutoNum type="romanUcPeriod"/>
            </a:pPr>
            <a:r>
              <a:rPr lang="en-US" dirty="0"/>
              <a:t>EXAMPLES OF MIS IN REAL LIFE APPLICATION.</a:t>
            </a:r>
          </a:p>
          <a:p>
            <a:pPr marL="551250" indent="-514350">
              <a:buFont typeface="+mj-lt"/>
              <a:buAutoNum type="romanUcPeriod"/>
            </a:pPr>
            <a:r>
              <a:rPr lang="en-US" dirty="0"/>
              <a:t>CONCLUSION.</a:t>
            </a:r>
          </a:p>
        </p:txBody>
      </p:sp>
    </p:spTree>
    <p:extLst>
      <p:ext uri="{BB962C8B-B14F-4D97-AF65-F5344CB8AC3E}">
        <p14:creationId xmlns:p14="http://schemas.microsoft.com/office/powerpoint/2010/main" val="2266976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C83BA5-2724-DD9C-FAA2-C0F1D5B80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u="sng" dirty="0"/>
              <a:t>INTRODUCTION TO MIS.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496FB12-AFB3-7AB5-D5D6-427B34723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Management information system (MIS) is an essential component of modern organizations, enabling efficient decision-making and business operations.</a:t>
            </a:r>
          </a:p>
          <a:p>
            <a:r>
              <a:rPr lang="en-US" dirty="0"/>
              <a:t>It involves the collection, processing, storage, and dissemination of information to support management activities at all levels.</a:t>
            </a:r>
          </a:p>
        </p:txBody>
      </p:sp>
    </p:spTree>
    <p:extLst>
      <p:ext uri="{BB962C8B-B14F-4D97-AF65-F5344CB8AC3E}">
        <p14:creationId xmlns:p14="http://schemas.microsoft.com/office/powerpoint/2010/main" val="1955051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C721D-CE63-08E7-FF6E-8502D60A4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837" y="316302"/>
            <a:ext cx="10353762" cy="970450"/>
          </a:xfrm>
        </p:spPr>
        <p:txBody>
          <a:bodyPr>
            <a:normAutofit/>
          </a:bodyPr>
          <a:lstStyle/>
          <a:p>
            <a:r>
              <a:rPr lang="en-US" sz="4400" b="1" u="sng" dirty="0"/>
              <a:t>DEFINATION OF MIS.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296CA-4B82-3DDF-76B7-6BF0ABC5C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MIS refers to a computerized system that provides managers with tools to organize, evaluate, and manage data to make informed decisions. It integrates people, technology, and processes to enhance business performance.</a:t>
            </a:r>
          </a:p>
        </p:txBody>
      </p:sp>
    </p:spTree>
    <p:extLst>
      <p:ext uri="{BB962C8B-B14F-4D97-AF65-F5344CB8AC3E}">
        <p14:creationId xmlns:p14="http://schemas.microsoft.com/office/powerpoint/2010/main" val="757398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C7701-FF69-F974-5AFD-23E298209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u="sng" dirty="0"/>
              <a:t>COMPONENTS OF MIS.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4A7F8-726C-B51A-7C2D-B6A7DFA37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MIS consists of the following key components;</a:t>
            </a:r>
          </a:p>
          <a:p>
            <a:pPr marL="494100" indent="-457200">
              <a:buFont typeface="+mj-lt"/>
              <a:buAutoNum type="alphaUcPeriod"/>
            </a:pPr>
            <a:r>
              <a:rPr lang="en-US" sz="2400" u="sng" dirty="0">
                <a:solidFill>
                  <a:srgbClr val="002060"/>
                </a:solidFill>
              </a:rPr>
              <a:t>Hardware </a:t>
            </a:r>
            <a:r>
              <a:rPr lang="en-US" sz="2400" dirty="0"/>
              <a:t>: Physical devices such as computers, servers, and networking equipment.</a:t>
            </a:r>
          </a:p>
          <a:p>
            <a:pPr marL="494100" indent="-457200">
              <a:buFont typeface="+mj-lt"/>
              <a:buAutoNum type="alphaUcPeriod"/>
            </a:pPr>
            <a:r>
              <a:rPr lang="en-US" sz="2400" u="sng" dirty="0">
                <a:solidFill>
                  <a:srgbClr val="002060"/>
                </a:solidFill>
              </a:rPr>
              <a:t>Software </a:t>
            </a:r>
            <a:r>
              <a:rPr lang="en-US" sz="2400" dirty="0"/>
              <a:t>: Programs and applications used for processing and managing data.</a:t>
            </a:r>
          </a:p>
          <a:p>
            <a:pPr marL="494100" indent="-457200">
              <a:buFont typeface="+mj-lt"/>
              <a:buAutoNum type="alphaUcPeriod"/>
            </a:pPr>
            <a:r>
              <a:rPr lang="en-US" sz="2400" u="sng" dirty="0">
                <a:solidFill>
                  <a:srgbClr val="002060"/>
                </a:solidFill>
              </a:rPr>
              <a:t>Data </a:t>
            </a:r>
            <a:r>
              <a:rPr lang="en-US" sz="2400" dirty="0"/>
              <a:t>: Raw facts and figures that are processed into useful information.</a:t>
            </a:r>
          </a:p>
          <a:p>
            <a:pPr marL="494100" indent="-457200">
              <a:buFont typeface="+mj-lt"/>
              <a:buAutoNum type="alphaUcPeriod"/>
            </a:pPr>
            <a:r>
              <a:rPr lang="en-US" sz="2400" u="sng" dirty="0">
                <a:solidFill>
                  <a:srgbClr val="002060"/>
                </a:solidFill>
              </a:rPr>
              <a:t>People </a:t>
            </a:r>
            <a:r>
              <a:rPr lang="en-US" sz="2400" dirty="0"/>
              <a:t>: Users, including managers, employees, and IT professionals.</a:t>
            </a:r>
          </a:p>
          <a:p>
            <a:pPr marL="494100" indent="-457200">
              <a:buFont typeface="+mj-lt"/>
              <a:buAutoNum type="alphaUcPeriod"/>
            </a:pPr>
            <a:r>
              <a:rPr lang="en-US" sz="2400" u="sng" dirty="0">
                <a:solidFill>
                  <a:srgbClr val="002060"/>
                </a:solidFill>
              </a:rPr>
              <a:t>Processes</a:t>
            </a:r>
            <a:r>
              <a:rPr lang="en-US" sz="2400" dirty="0"/>
              <a:t> : Procedures and workflows that help manage and analyze information.</a:t>
            </a:r>
          </a:p>
        </p:txBody>
      </p:sp>
    </p:spTree>
    <p:extLst>
      <p:ext uri="{BB962C8B-B14F-4D97-AF65-F5344CB8AC3E}">
        <p14:creationId xmlns:p14="http://schemas.microsoft.com/office/powerpoint/2010/main" val="633498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12A62-6DF3-68FB-2211-ECDFE499E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u="sng" dirty="0"/>
              <a:t>FUNCTIONS OF MIS</a:t>
            </a:r>
            <a:r>
              <a:rPr lang="en-US" sz="4400" b="1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FC5BD-9784-4A65-2FA6-BCA397505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94100" indent="-457200">
              <a:buFont typeface="+mj-lt"/>
              <a:buAutoNum type="arabicPeriod"/>
            </a:pPr>
            <a:r>
              <a:rPr lang="en-US" sz="2800" u="sng" dirty="0">
                <a:solidFill>
                  <a:srgbClr val="002060"/>
                </a:solidFill>
              </a:rPr>
              <a:t>Data collection and Processing </a:t>
            </a:r>
            <a:r>
              <a:rPr lang="en-US" sz="2400" dirty="0"/>
              <a:t>: It gathers information from various sources and processes it into useful reports.</a:t>
            </a:r>
          </a:p>
          <a:p>
            <a:pPr marL="494100" indent="-457200">
              <a:buFont typeface="+mj-lt"/>
              <a:buAutoNum type="arabicPeriod"/>
            </a:pPr>
            <a:r>
              <a:rPr lang="en-US" sz="2800" u="sng" dirty="0">
                <a:solidFill>
                  <a:srgbClr val="002060"/>
                </a:solidFill>
              </a:rPr>
              <a:t>Storage and Retrieval </a:t>
            </a:r>
            <a:r>
              <a:rPr lang="en-US" sz="2400" dirty="0"/>
              <a:t>: It saves data for easy access and future reference.</a:t>
            </a:r>
          </a:p>
          <a:p>
            <a:pPr marL="494100" indent="-457200">
              <a:buFont typeface="+mj-lt"/>
              <a:buAutoNum type="arabicPeriod"/>
            </a:pPr>
            <a:r>
              <a:rPr lang="en-US" sz="2800" u="sng" dirty="0">
                <a:solidFill>
                  <a:srgbClr val="002060"/>
                </a:solidFill>
              </a:rPr>
              <a:t>Decision Support </a:t>
            </a:r>
            <a:r>
              <a:rPr lang="en-US" sz="2400" dirty="0"/>
              <a:t>: It helps in strategic, tactical, and operational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803385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466F3-6AD5-375A-A4BF-DFE4294E2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u="sng" dirty="0"/>
              <a:t>TYPES OF MIS.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7630B-446D-03C3-8FDF-4B8B08081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94100" indent="-457200">
              <a:buFont typeface="+mj-lt"/>
              <a:buAutoNum type="arabicPeriod"/>
            </a:pPr>
            <a:r>
              <a:rPr lang="en-US" sz="2800" u="sng" dirty="0">
                <a:solidFill>
                  <a:srgbClr val="002060"/>
                </a:solidFill>
              </a:rPr>
              <a:t>Transaction Processing System (TPS) </a:t>
            </a:r>
            <a:r>
              <a:rPr lang="en-US" sz="2800" dirty="0"/>
              <a:t>:</a:t>
            </a:r>
            <a:r>
              <a:rPr lang="en-US" sz="2400" dirty="0"/>
              <a:t> It manages routine transaction like payroll and sales processing.</a:t>
            </a:r>
          </a:p>
          <a:p>
            <a:pPr marL="494100" indent="-457200">
              <a:buFont typeface="+mj-lt"/>
              <a:buAutoNum type="arabicPeriod"/>
            </a:pPr>
            <a:r>
              <a:rPr lang="en-US" sz="2800" u="sng" dirty="0">
                <a:solidFill>
                  <a:srgbClr val="002060"/>
                </a:solidFill>
              </a:rPr>
              <a:t>Decision Support System (DSS) </a:t>
            </a:r>
            <a:r>
              <a:rPr lang="en-US" sz="2800" dirty="0"/>
              <a:t>: </a:t>
            </a:r>
            <a:r>
              <a:rPr lang="en-US" sz="2400" dirty="0"/>
              <a:t>It provides analytical tools for complex decision-making.</a:t>
            </a:r>
          </a:p>
          <a:p>
            <a:pPr marL="494100" indent="-457200">
              <a:buFont typeface="+mj-lt"/>
              <a:buAutoNum type="arabicPeriod"/>
            </a:pPr>
            <a:r>
              <a:rPr lang="en-US" sz="2800" u="sng" dirty="0">
                <a:solidFill>
                  <a:srgbClr val="002060"/>
                </a:solidFill>
              </a:rPr>
              <a:t>Executive Information System (EIS) </a:t>
            </a:r>
            <a:r>
              <a:rPr lang="en-US" sz="2400" dirty="0"/>
              <a:t>: It delivers high-level insights for senior executives.</a:t>
            </a:r>
          </a:p>
          <a:p>
            <a:pPr marL="494100" indent="-457200">
              <a:buFont typeface="+mj-lt"/>
              <a:buAutoNum type="arabicPeriod"/>
            </a:pPr>
            <a:r>
              <a:rPr lang="en-US" sz="2800" u="sng" dirty="0">
                <a:solidFill>
                  <a:srgbClr val="002060"/>
                </a:solidFill>
              </a:rPr>
              <a:t>Enterprise Resource Planning (ERP) </a:t>
            </a:r>
            <a:r>
              <a:rPr lang="en-US" sz="2400" dirty="0"/>
              <a:t>: It integrates multiple business functions such as finance etc.</a:t>
            </a:r>
          </a:p>
        </p:txBody>
      </p:sp>
    </p:spTree>
    <p:extLst>
      <p:ext uri="{BB962C8B-B14F-4D97-AF65-F5344CB8AC3E}">
        <p14:creationId xmlns:p14="http://schemas.microsoft.com/office/powerpoint/2010/main" val="2742548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06B8F-6A6B-6A06-4E70-42B787567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089804"/>
          </a:xfrm>
        </p:spPr>
        <p:txBody>
          <a:bodyPr>
            <a:noAutofit/>
          </a:bodyPr>
          <a:lstStyle/>
          <a:p>
            <a:r>
              <a:rPr lang="en-US" sz="4400" b="1" u="sng" dirty="0"/>
              <a:t>EXAMPLES OF MIS IN REAL LIFE SITUATION.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A36C8-87F0-B9BD-AC1B-1915BFCDA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44461"/>
            <a:ext cx="10353762" cy="4117675"/>
          </a:xfrm>
        </p:spPr>
        <p:txBody>
          <a:bodyPr>
            <a:normAutofit fontScale="92500" lnSpcReduction="20000"/>
          </a:bodyPr>
          <a:lstStyle/>
          <a:p>
            <a:pPr marL="551250" indent="-514350">
              <a:buFont typeface="+mj-lt"/>
              <a:buAutoNum type="romanLcPeriod"/>
            </a:pPr>
            <a:r>
              <a:rPr lang="en-US" sz="2800" u="sng" dirty="0">
                <a:solidFill>
                  <a:srgbClr val="002060"/>
                </a:solidFill>
              </a:rPr>
              <a:t>Customer Relationship Management (CRM) </a:t>
            </a:r>
            <a:r>
              <a:rPr lang="en-US" dirty="0"/>
              <a:t>: MIS supports CRM systems by collecting and analyzing customer data, enabling businesses to manage interactions effectively, tailor marketing strategies, and enhance customer satisfaction.</a:t>
            </a:r>
          </a:p>
          <a:p>
            <a:pPr marL="551250" indent="-514350">
              <a:buFont typeface="+mj-lt"/>
              <a:buAutoNum type="romanLcPeriod"/>
            </a:pPr>
            <a:r>
              <a:rPr lang="en-US" sz="2800" u="sng" dirty="0">
                <a:solidFill>
                  <a:srgbClr val="002060"/>
                </a:solidFill>
              </a:rPr>
              <a:t>Marketing Management </a:t>
            </a:r>
            <a:r>
              <a:rPr lang="en-US" dirty="0"/>
              <a:t>: it utilize MIS to tracking campaign performances, analyze market trends, and optimize promotional efforts, leading to more targeted and efficient marketing strategies.</a:t>
            </a:r>
          </a:p>
          <a:p>
            <a:pPr marL="551250" indent="-514350">
              <a:buFont typeface="+mj-lt"/>
              <a:buAutoNum type="romanLcPeriod"/>
            </a:pPr>
            <a:r>
              <a:rPr lang="en-US" sz="3000" u="sng" dirty="0">
                <a:solidFill>
                  <a:srgbClr val="002060"/>
                </a:solidFill>
              </a:rPr>
              <a:t>Financial Management </a:t>
            </a:r>
            <a:r>
              <a:rPr lang="en-US" dirty="0"/>
              <a:t>: Financial information system leverage MIS to manage accounting, budgeting, and financial reporting, ensuring accuracy and compliance in financial operations.</a:t>
            </a:r>
          </a:p>
          <a:p>
            <a:pPr marL="551250" indent="-514350">
              <a:buFont typeface="+mj-lt"/>
              <a:buAutoNum type="romanLcPeriod"/>
            </a:pPr>
            <a:r>
              <a:rPr lang="en-US" sz="3000" u="sng" dirty="0">
                <a:solidFill>
                  <a:srgbClr val="002060"/>
                </a:solidFill>
              </a:rPr>
              <a:t>Human Resources Management </a:t>
            </a:r>
            <a:r>
              <a:rPr lang="en-US" dirty="0"/>
              <a:t>:MIS aids in human resource management by automating payroll, tracking employee performance, and managing recruitment processes, there by improving efficiency and decision-making.</a:t>
            </a:r>
          </a:p>
          <a:p>
            <a:pPr marL="551250" indent="-514350">
              <a:buFont typeface="+mj-lt"/>
              <a:buAutoNum type="romanL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655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6DAD2-3943-BDD6-37E7-0ACFC1D50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u="sng" dirty="0"/>
              <a:t>BENEFITS OF MIS.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E7E96-9544-4782-16D3-746EA7A9C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Here, are some of the benefit of MIS;</a:t>
            </a:r>
          </a:p>
          <a:p>
            <a:pPr marL="494100" indent="-457200">
              <a:buFont typeface="+mj-lt"/>
              <a:buAutoNum type="alphaLcParenR"/>
            </a:pPr>
            <a:r>
              <a:rPr lang="en-US" sz="2800" u="sng" dirty="0">
                <a:solidFill>
                  <a:srgbClr val="002060"/>
                </a:solidFill>
              </a:rPr>
              <a:t>Improved Efficiency </a:t>
            </a:r>
            <a:r>
              <a:rPr lang="en-US" dirty="0"/>
              <a:t>:  It automates processes, reducing manual effort.</a:t>
            </a:r>
          </a:p>
          <a:p>
            <a:pPr marL="494100" indent="-457200">
              <a:buFont typeface="+mj-lt"/>
              <a:buAutoNum type="alphaLcParenR"/>
            </a:pPr>
            <a:r>
              <a:rPr lang="en-US" sz="2800" u="sng" dirty="0">
                <a:solidFill>
                  <a:srgbClr val="002060"/>
                </a:solidFill>
              </a:rPr>
              <a:t>Enhanced Decision-Making </a:t>
            </a:r>
            <a:r>
              <a:rPr lang="en-US" dirty="0"/>
              <a:t>: It provides real-time and historical data for better choices.</a:t>
            </a:r>
          </a:p>
          <a:p>
            <a:pPr marL="494100" indent="-457200">
              <a:buFont typeface="+mj-lt"/>
              <a:buAutoNum type="alphaLcParenR"/>
            </a:pPr>
            <a:r>
              <a:rPr lang="en-US" sz="2800" u="sng" dirty="0">
                <a:solidFill>
                  <a:srgbClr val="002060"/>
                </a:solidFill>
              </a:rPr>
              <a:t>Data Accuracy and Security </a:t>
            </a:r>
            <a:r>
              <a:rPr lang="en-US" dirty="0"/>
              <a:t>: It reduces errors and ensures secure data management.</a:t>
            </a:r>
          </a:p>
        </p:txBody>
      </p:sp>
    </p:spTree>
    <p:extLst>
      <p:ext uri="{BB962C8B-B14F-4D97-AF65-F5344CB8AC3E}">
        <p14:creationId xmlns:p14="http://schemas.microsoft.com/office/powerpoint/2010/main" val="114264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ED205-76CB-97E9-9EBA-CC89D37ED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900" b="1" u="sng" dirty="0"/>
              <a:t>CONCLUSION.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02D50-DD3B-E3C0-4BE2-8FB4E6A0B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MIS is a crucial tool for organizations to manage data effectively and improve decision-making. Despite challenges, it offers significant benefits in efficiency, accuracy, and business intelligent. </a:t>
            </a:r>
          </a:p>
        </p:txBody>
      </p:sp>
    </p:spTree>
    <p:extLst>
      <p:ext uri="{BB962C8B-B14F-4D97-AF65-F5344CB8AC3E}">
        <p14:creationId xmlns:p14="http://schemas.microsoft.com/office/powerpoint/2010/main" val="271934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263</TotalTime>
  <Words>534</Words>
  <Application>Microsoft Office PowerPoint</Application>
  <PresentationFormat>Widescreen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Calisto MT</vt:lpstr>
      <vt:lpstr>Wingdings 2</vt:lpstr>
      <vt:lpstr>Slate</vt:lpstr>
      <vt:lpstr>MIS (MANAGEMENT INFORMATION SYSTM).</vt:lpstr>
      <vt:lpstr>INTRODUCTION TO MIS.</vt:lpstr>
      <vt:lpstr>DEFINATION OF MIS.</vt:lpstr>
      <vt:lpstr>COMPONENTS OF MIS.</vt:lpstr>
      <vt:lpstr>FUNCTIONS OF MIS.</vt:lpstr>
      <vt:lpstr>TYPES OF MIS.</vt:lpstr>
      <vt:lpstr>EXAMPLES OF MIS IN REAL LIFE SITUATION.</vt:lpstr>
      <vt:lpstr>BENEFITS OF MIS.</vt:lpstr>
      <vt:lpstr>CONCLUSION.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3</cp:revision>
  <dcterms:created xsi:type="dcterms:W3CDTF">2025-03-19T18:23:11Z</dcterms:created>
  <dcterms:modified xsi:type="dcterms:W3CDTF">2025-03-20T04:45:41Z</dcterms:modified>
</cp:coreProperties>
</file>